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A opener for Cycle 1: Foundations. Read the title and subtitle aloud, then move straight to the year-progress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current cycle in gold, completed cycles in ice blue, and upcoming cycles in grey.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goal aloud briefly; these three drive what 'success' means for this cycle's Practice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only if the room is slow to generate its own Problem Ledger entries.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synthesis is in the companion Reading Brief — this is the compressed, spoken version. Keep this slide to under 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Groups of 3-4 design their plan against these three criteria before the Commit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capture (voice note, photo, or video) is due at least twice during the Weeks 1-4 trial window.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this now so teachers know what 'return' will require before they leave Session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this line every cycle — the repetition is deliberate.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ANUBHAV MODEL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1 OF 8  ·  WEEKS 1–6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35204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Room: Culture, Trust, and the Loop Itself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5120640"/>
            <a:ext cx="3291840" cy="5029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1206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Co-Researcher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 In The Year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35508" y="182880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635508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98348" y="3127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25396" y="182880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2025396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888236" y="3127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&amp; Motivation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15284" y="182880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3415284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78124" y="3127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Pedagogy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5172" y="182880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4805172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68012" y="3127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&amp; Feedback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95060" y="182880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</p:spPr>
      </p:sp>
      <p:sp>
        <p:nvSpPr>
          <p:cNvPr id="16" name="Text 14"/>
          <p:cNvSpPr/>
          <p:nvPr/>
        </p:nvSpPr>
        <p:spPr>
          <a:xfrm>
            <a:off x="6195060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057900" y="3127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Sustaining the Teacher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584948" y="182880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</p:spPr>
      </p:sp>
      <p:sp>
        <p:nvSpPr>
          <p:cNvPr id="19" name="Text 17"/>
          <p:cNvSpPr/>
          <p:nvPr/>
        </p:nvSpPr>
        <p:spPr>
          <a:xfrm>
            <a:off x="7584948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447788" y="3127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AI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974836" y="182880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</p:spPr>
      </p:sp>
      <p:sp>
        <p:nvSpPr>
          <p:cNvPr id="22" name="Text 20"/>
          <p:cNvSpPr/>
          <p:nvPr/>
        </p:nvSpPr>
        <p:spPr>
          <a:xfrm>
            <a:off x="8974836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837676" y="3127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 &amp; Differentiation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364724" y="182880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</p:spPr>
      </p:sp>
      <p:sp>
        <p:nvSpPr>
          <p:cNvPr id="25" name="Text 23"/>
          <p:cNvSpPr/>
          <p:nvPr/>
        </p:nvSpPr>
        <p:spPr>
          <a:xfrm>
            <a:off x="10364724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10227564" y="3127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42976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here — Cycle 1. Approximately six weeks, inside your normal paid hours.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Goals For This Cycle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645920"/>
            <a:ext cx="822960" cy="82296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45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0" y="1554480"/>
            <a:ext cx="9326880" cy="12344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1554480"/>
            <a:ext cx="8869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the psychological-safety norms the whole program depends 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108960"/>
            <a:ext cx="822960" cy="82296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1089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2011680" y="3017520"/>
            <a:ext cx="9326880" cy="12344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0" y="3017520"/>
            <a:ext cx="8869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the four phases of the Anubhav Loop once, on a low-stakes problem, before real problems enter the Ledger.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4572000"/>
            <a:ext cx="822960" cy="82296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572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2011680" y="4480560"/>
            <a:ext cx="9326880" cy="12344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0" y="4480560"/>
            <a:ext cx="8869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buddy pairs and review groups that will stay together for the year.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Kind Of Problem This Cycle Is For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illustrations, not the agenda — your own Problem Ledger entries take priority.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120640" cy="32918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0116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60120" y="2743200"/>
            <a:ext cx="44805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class doesn't yet know how to disagree with each other productively during discussion.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120640" cy="32918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20116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583680" y="2743200"/>
            <a:ext cx="44805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don't know their students' names and starting points well enough by week 3.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Practice Briefing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and new practice, synthesised for this cycle's problem.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728" cy="1234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920240"/>
            <a:ext cx="10241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Psychological safety has to exist before technique — communities need trust before they can do useful joint work.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337560"/>
            <a:ext cx="109728" cy="1234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337560"/>
            <a:ext cx="10241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study's culture treats unpolished teaching as the norm from day one, not a confession.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754880"/>
            <a:ext cx="109728" cy="1234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4754880"/>
            <a:ext cx="10241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full Loop once on a low-stakes problem before real problems enter the Ledger.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Design Sprint — What A Good Plan States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3520440" cy="3291840"/>
          </a:xfrm>
          <a:prstGeom prst="roundRect">
            <a:avLst>
              <a:gd name="adj" fmla="val 1667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be different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61188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 change you're making to a routine, task, or policy — not a vague intention.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78808" y="310896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434840" y="1828800"/>
            <a:ext cx="3520440" cy="3291840"/>
          </a:xfrm>
          <a:prstGeom prst="roundRect">
            <a:avLst>
              <a:gd name="adj" fmla="val 1667"/>
            </a:avLst>
          </a:prstGeom>
          <a:solidFill>
            <a:srgbClr val="F2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4709160" y="2103120"/>
            <a:ext cx="640080" cy="64008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09160" y="28803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it'll be noticed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09160" y="361188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actually look or listen for in the classroom, so you know if the change happened.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73568" y="310896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8229600" y="1828800"/>
            <a:ext cx="3520440" cy="3291840"/>
          </a:xfrm>
          <a:prstGeom prst="roundRect">
            <a:avLst>
              <a:gd name="adj" fmla="val 1667"/>
            </a:avLst>
          </a:prstGeom>
          <a:solidFill>
            <a:srgbClr val="F2F2F2"/>
          </a:solidFill>
          <a:ln/>
        </p:spPr>
      </p:sp>
      <p:sp>
        <p:nvSpPr>
          <p:cNvPr id="16" name="Shape 14"/>
          <p:cNvSpPr/>
          <p:nvPr/>
        </p:nvSpPr>
        <p:spPr>
          <a:xfrm>
            <a:off x="8503920" y="2103120"/>
            <a:ext cx="640080" cy="64008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03920" y="28803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success would look like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03920" y="361188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concrete signal, however small, that you'd count as this trial working.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Cycle's Six Weeks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77240" y="2194560"/>
            <a:ext cx="2514600" cy="2377440"/>
          </a:xfrm>
          <a:prstGeom prst="roundRect">
            <a:avLst>
              <a:gd name="adj" fmla="val 2308"/>
            </a:avLst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2423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2971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36576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19272" y="301752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11880" y="2194560"/>
            <a:ext cx="2514600" cy="2377440"/>
          </a:xfrm>
          <a:prstGeom prst="roundRect">
            <a:avLst>
              <a:gd name="adj" fmla="val 2308"/>
            </a:avLst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3611880" y="2423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11880" y="2971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Classroom Trial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11880" y="36576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53912" y="301752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6446520" y="2194560"/>
            <a:ext cx="2514600" cy="2377440"/>
          </a:xfrm>
          <a:prstGeom prst="roundRect">
            <a:avLst>
              <a:gd name="adj" fmla="val 2308"/>
            </a:avLst>
          </a:prstGeom>
          <a:solidFill>
            <a:srgbClr val="1F3864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2423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46520" y="2971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B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46520" y="36576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988552" y="301752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9281160" y="2194560"/>
            <a:ext cx="2514600" cy="2377440"/>
          </a:xfrm>
          <a:prstGeom prst="roundRect">
            <a:avLst>
              <a:gd name="adj" fmla="val 2308"/>
            </a:avLst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9281160" y="2423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281160" y="2971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Buffer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281160" y="36576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Session B Looks Like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5212080" cy="35661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20116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Circles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05840" y="278892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what happened — wins and honest failures both. No-judgement norm, stated aloud.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737360"/>
            <a:ext cx="5212080" cy="35661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20116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Mint Workshop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83680" y="278892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 that worked become a one-page Practice Card, credited to you by name, added to the shared library.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 one real problem.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this cycle builds from there.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2026-07-24T14:40:34Z</dcterms:created>
  <dcterms:modified xsi:type="dcterms:W3CDTF">2026-07-24T14:40:34Z</dcterms:modified>
</cp:coreProperties>
</file>