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Session A opener for Cycle 5: Sustaining the Teacher. Read the title and subtitle aloud, then move straight to the year-progress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the current cycle in gold, completed cycles in ice blue, and upcoming cycles in grey.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each goal aloud briefly; these three drive what 'success' means for this cycle's Practice Cards.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these only if the room is slow to generate its own Problem Ledger entries.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synthesis is in the companion Reading Brief — this is the compressed, spoken version. Keep this slide to under 5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Groups of 3-4 design their plan against these three criteria before the Commit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Evidence capture (voice note, photo, or video) is due at least twice during the Weeks 1-4 trial window.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Preview this now so teachers know what 'return' will require before they leave Session 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this line every cycle — the repetition is deliberate.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ANUBHAV MODEL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5 OF 8  ·  WEEKS 25–30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2377440"/>
            <a:ext cx="108813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Sustaining the Teacher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40080" y="352044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Wellbeing and Workload at the Mid-Year Point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40080" y="5120640"/>
            <a:ext cx="3291840" cy="50292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512064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&amp; Well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We Are In The Year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35508" y="1828800"/>
            <a:ext cx="1188720" cy="1188720"/>
          </a:xfrm>
          <a:prstGeom prst="roundRect">
            <a:avLst>
              <a:gd name="adj" fmla="val 6154"/>
            </a:avLst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635508" y="196596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98348" y="3127248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025396" y="1828800"/>
            <a:ext cx="1188720" cy="1188720"/>
          </a:xfrm>
          <a:prstGeom prst="roundRect">
            <a:avLst>
              <a:gd name="adj" fmla="val 6154"/>
            </a:avLst>
          </a:prstGeom>
          <a:solidFill>
            <a:srgbClr val="CADCFC"/>
          </a:solidFill>
          <a:ln/>
        </p:spPr>
      </p:sp>
      <p:sp>
        <p:nvSpPr>
          <p:cNvPr id="7" name="Text 5"/>
          <p:cNvSpPr/>
          <p:nvPr/>
        </p:nvSpPr>
        <p:spPr>
          <a:xfrm>
            <a:off x="2025396" y="196596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888236" y="3127248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&amp; Motivation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415284" y="1828800"/>
            <a:ext cx="1188720" cy="1188720"/>
          </a:xfrm>
          <a:prstGeom prst="roundRect">
            <a:avLst>
              <a:gd name="adj" fmla="val 6154"/>
            </a:avLst>
          </a:prstGeom>
          <a:solidFill>
            <a:srgbClr val="CADCFC"/>
          </a:solidFill>
          <a:ln/>
        </p:spPr>
      </p:sp>
      <p:sp>
        <p:nvSpPr>
          <p:cNvPr id="10" name="Text 8"/>
          <p:cNvSpPr/>
          <p:nvPr/>
        </p:nvSpPr>
        <p:spPr>
          <a:xfrm>
            <a:off x="3415284" y="196596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278124" y="3127248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Pedagogy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805172" y="1828800"/>
            <a:ext cx="1188720" cy="1188720"/>
          </a:xfrm>
          <a:prstGeom prst="roundRect">
            <a:avLst>
              <a:gd name="adj" fmla="val 6154"/>
            </a:avLst>
          </a:prstGeom>
          <a:solidFill>
            <a:srgbClr val="CADCFC"/>
          </a:solidFill>
          <a:ln/>
        </p:spPr>
      </p:sp>
      <p:sp>
        <p:nvSpPr>
          <p:cNvPr id="13" name="Text 11"/>
          <p:cNvSpPr/>
          <p:nvPr/>
        </p:nvSpPr>
        <p:spPr>
          <a:xfrm>
            <a:off x="4805172" y="196596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668012" y="3127248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&amp; Feedback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95060" y="1828800"/>
            <a:ext cx="1188720" cy="1188720"/>
          </a:xfrm>
          <a:prstGeom prst="roundRect">
            <a:avLst>
              <a:gd name="adj" fmla="val 6154"/>
            </a:avLst>
          </a:prstGeom>
          <a:solidFill>
            <a:srgbClr val="C9A227"/>
          </a:solidFill>
          <a:ln/>
        </p:spPr>
      </p:sp>
      <p:sp>
        <p:nvSpPr>
          <p:cNvPr id="16" name="Text 14"/>
          <p:cNvSpPr/>
          <p:nvPr/>
        </p:nvSpPr>
        <p:spPr>
          <a:xfrm>
            <a:off x="6195060" y="196596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6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057900" y="3127248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Sustaining the Teacher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584948" y="1828800"/>
            <a:ext cx="1188720" cy="1188720"/>
          </a:xfrm>
          <a:prstGeom prst="roundRect">
            <a:avLst>
              <a:gd name="adj" fmla="val 6154"/>
            </a:avLst>
          </a:prstGeom>
          <a:solidFill>
            <a:srgbClr val="F2F2F2"/>
          </a:solidFill>
          <a:ln/>
        </p:spPr>
      </p:sp>
      <p:sp>
        <p:nvSpPr>
          <p:cNvPr id="19" name="Text 17"/>
          <p:cNvSpPr/>
          <p:nvPr/>
        </p:nvSpPr>
        <p:spPr>
          <a:xfrm>
            <a:off x="7584948" y="196596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7447788" y="3127248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&amp; AI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974836" y="1828800"/>
            <a:ext cx="1188720" cy="1188720"/>
          </a:xfrm>
          <a:prstGeom prst="roundRect">
            <a:avLst>
              <a:gd name="adj" fmla="val 6154"/>
            </a:avLst>
          </a:prstGeom>
          <a:solidFill>
            <a:srgbClr val="F2F2F2"/>
          </a:solidFill>
          <a:ln/>
        </p:spPr>
      </p:sp>
      <p:sp>
        <p:nvSpPr>
          <p:cNvPr id="22" name="Text 20"/>
          <p:cNvSpPr/>
          <p:nvPr/>
        </p:nvSpPr>
        <p:spPr>
          <a:xfrm>
            <a:off x="8974836" y="196596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8837676" y="3127248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Inclusion &amp; Differentiation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0364724" y="1828800"/>
            <a:ext cx="1188720" cy="1188720"/>
          </a:xfrm>
          <a:prstGeom prst="roundRect">
            <a:avLst>
              <a:gd name="adj" fmla="val 6154"/>
            </a:avLst>
          </a:prstGeom>
          <a:solidFill>
            <a:srgbClr val="F2F2F2"/>
          </a:solidFill>
          <a:ln/>
        </p:spPr>
      </p:sp>
      <p:sp>
        <p:nvSpPr>
          <p:cNvPr id="25" name="Text 23"/>
          <p:cNvSpPr/>
          <p:nvPr/>
        </p:nvSpPr>
        <p:spPr>
          <a:xfrm>
            <a:off x="10364724" y="1965960"/>
            <a:ext cx="1188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10227564" y="3127248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Harvest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0080" y="429768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here — Cycle 5. Approximately six weeks, inside your normal paid hours.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Goals For This Cycle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645920"/>
            <a:ext cx="822960" cy="82296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6459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011680" y="1554480"/>
            <a:ext cx="9326880" cy="123444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6" name="Text 4"/>
          <p:cNvSpPr/>
          <p:nvPr/>
        </p:nvSpPr>
        <p:spPr>
          <a:xfrm>
            <a:off x="2286000" y="1554480"/>
            <a:ext cx="8869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workload and energy honestly, without it being treated as a complaint.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3108960"/>
            <a:ext cx="822960" cy="82296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10896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2011680" y="3017520"/>
            <a:ext cx="9326880" cy="123444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0" name="Text 8"/>
          <p:cNvSpPr/>
          <p:nvPr/>
        </p:nvSpPr>
        <p:spPr>
          <a:xfrm>
            <a:off x="2286000" y="3017520"/>
            <a:ext cx="8869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one concrete change to a personally unsustainable routine, not just a mindset shift.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22960" y="4572000"/>
            <a:ext cx="822960" cy="82296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45720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2011680" y="4480560"/>
            <a:ext cx="9326880" cy="123444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14" name="Text 12"/>
          <p:cNvSpPr/>
          <p:nvPr/>
        </p:nvSpPr>
        <p:spPr>
          <a:xfrm>
            <a:off x="2286000" y="4480560"/>
            <a:ext cx="8869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Reconnect with why the work matters, deliberately, at the point of the year fatigue is highest.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Kind Of Problem This Cycle Is For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illustrations, not the agenda — your own Problem Ledger entries take priority.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120640" cy="329184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201168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60120" y="2743200"/>
            <a:ext cx="44805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teacher is answering parent messages late into the evening and can't find where to draw a line.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263640" y="1737360"/>
            <a:ext cx="5120640" cy="329184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0" y="201168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6583680" y="2743200"/>
            <a:ext cx="44805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Preparation time has quietly expanded to fill every free period, leaving no recovery time in the working day.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Global Practice Briefing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and new practice, synthesised for this cycle's problem.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109728" cy="123444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920240"/>
            <a:ext cx="10241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Mindfulness alone shows weak effects; structural change — autonomy, collaboration — is the load-bearing factor.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3337560"/>
            <a:ext cx="109728" cy="123444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3337560"/>
            <a:ext cx="10241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cycle points the same Loop used for classroom problems at the teacher's own routine.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4754880"/>
            <a:ext cx="109728" cy="123444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4754880"/>
            <a:ext cx="10241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Reflective functioning, trained by the Return Circle itself, is a known protective factor against burnout.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 Design Sprint — What A Good Plan States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828800"/>
            <a:ext cx="3520440" cy="3291840"/>
          </a:xfrm>
          <a:prstGeom prst="roundRect">
            <a:avLst>
              <a:gd name="adj" fmla="val 1667"/>
            </a:avLst>
          </a:prstGeom>
          <a:solidFill>
            <a:srgbClr val="F2F2F2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2103120"/>
            <a:ext cx="640080" cy="64008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2880360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will be different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3611880"/>
            <a:ext cx="2971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specific change you're making to a routine, task, or policy — not a vague intention.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78808" y="3108960"/>
            <a:ext cx="2560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4434840" y="1828800"/>
            <a:ext cx="3520440" cy="3291840"/>
          </a:xfrm>
          <a:prstGeom prst="roundRect">
            <a:avLst>
              <a:gd name="adj" fmla="val 1667"/>
            </a:avLst>
          </a:prstGeom>
          <a:solidFill>
            <a:srgbClr val="F2F2F2"/>
          </a:solidFill>
          <a:ln/>
        </p:spPr>
      </p:sp>
      <p:sp>
        <p:nvSpPr>
          <p:cNvPr id="10" name="Shape 8"/>
          <p:cNvSpPr/>
          <p:nvPr/>
        </p:nvSpPr>
        <p:spPr>
          <a:xfrm>
            <a:off x="4709160" y="2103120"/>
            <a:ext cx="640080" cy="64008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1" name="Text 9"/>
          <p:cNvSpPr/>
          <p:nvPr/>
        </p:nvSpPr>
        <p:spPr>
          <a:xfrm>
            <a:off x="4709160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709160" y="2880360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it'll be noticed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709160" y="3611880"/>
            <a:ext cx="2971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you'll actually look or listen for in the classroom, so you know if the change happened.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973568" y="3108960"/>
            <a:ext cx="2560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8229600" y="1828800"/>
            <a:ext cx="3520440" cy="3291840"/>
          </a:xfrm>
          <a:prstGeom prst="roundRect">
            <a:avLst>
              <a:gd name="adj" fmla="val 1667"/>
            </a:avLst>
          </a:prstGeom>
          <a:solidFill>
            <a:srgbClr val="F2F2F2"/>
          </a:solidFill>
          <a:ln/>
        </p:spPr>
      </p:sp>
      <p:sp>
        <p:nvSpPr>
          <p:cNvPr id="16" name="Shape 14"/>
          <p:cNvSpPr/>
          <p:nvPr/>
        </p:nvSpPr>
        <p:spPr>
          <a:xfrm>
            <a:off x="8503920" y="2103120"/>
            <a:ext cx="640080" cy="640080"/>
          </a:xfrm>
          <a:prstGeom prst="ellipse">
            <a:avLst/>
          </a:prstGeom>
          <a:solidFill>
            <a:srgbClr val="1F3864"/>
          </a:solidFill>
          <a:ln/>
        </p:spPr>
      </p:sp>
      <p:sp>
        <p:nvSpPr>
          <p:cNvPr id="17" name="Text 15"/>
          <p:cNvSpPr/>
          <p:nvPr/>
        </p:nvSpPr>
        <p:spPr>
          <a:xfrm>
            <a:off x="8503920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503920" y="2880360"/>
            <a:ext cx="2971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success would look like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503920" y="3611880"/>
            <a:ext cx="2971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concrete signal, however small, that you'd count as this trial working.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Cycle's Six Weeks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77240" y="2194560"/>
            <a:ext cx="2514600" cy="2377440"/>
          </a:xfrm>
          <a:prstGeom prst="roundRect">
            <a:avLst>
              <a:gd name="adj" fmla="val 2308"/>
            </a:avLst>
          </a:prstGeom>
          <a:solidFill>
            <a:srgbClr val="1F3864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242316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77240" y="297180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" y="365760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319272" y="3017520"/>
            <a:ext cx="274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611880" y="2194560"/>
            <a:ext cx="2514600" cy="2377440"/>
          </a:xfrm>
          <a:prstGeom prst="roundRect">
            <a:avLst>
              <a:gd name="adj" fmla="val 2308"/>
            </a:avLst>
          </a:prstGeom>
          <a:solidFill>
            <a:srgbClr val="CADCFC"/>
          </a:solidFill>
          <a:ln/>
        </p:spPr>
      </p:sp>
      <p:sp>
        <p:nvSpPr>
          <p:cNvPr id="9" name="Text 7"/>
          <p:cNvSpPr/>
          <p:nvPr/>
        </p:nvSpPr>
        <p:spPr>
          <a:xfrm>
            <a:off x="3611880" y="242316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1–4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11880" y="297180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Classroom Trial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611880" y="365760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153912" y="3017520"/>
            <a:ext cx="274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6446520" y="2194560"/>
            <a:ext cx="2514600" cy="2377440"/>
          </a:xfrm>
          <a:prstGeom prst="roundRect">
            <a:avLst>
              <a:gd name="adj" fmla="val 2308"/>
            </a:avLst>
          </a:prstGeom>
          <a:solidFill>
            <a:srgbClr val="1F3864"/>
          </a:solidFill>
          <a:ln/>
        </p:spPr>
      </p:sp>
      <p:sp>
        <p:nvSpPr>
          <p:cNvPr id="14" name="Text 12"/>
          <p:cNvSpPr/>
          <p:nvPr/>
        </p:nvSpPr>
        <p:spPr>
          <a:xfrm>
            <a:off x="6446520" y="242316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46520" y="297180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B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46520" y="365760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988552" y="3017520"/>
            <a:ext cx="274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9281160" y="2194560"/>
            <a:ext cx="2514600" cy="2377440"/>
          </a:xfrm>
          <a:prstGeom prst="roundRect">
            <a:avLst>
              <a:gd name="adj" fmla="val 2308"/>
            </a:avLst>
          </a:prstGeom>
          <a:solidFill>
            <a:srgbClr val="CADCFC"/>
          </a:solidFill>
          <a:ln/>
        </p:spPr>
      </p:sp>
      <p:sp>
        <p:nvSpPr>
          <p:cNvPr id="19" name="Text 17"/>
          <p:cNvSpPr/>
          <p:nvPr/>
        </p:nvSpPr>
        <p:spPr>
          <a:xfrm>
            <a:off x="9281160" y="2423160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9281160" y="297180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Buffer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281160" y="365760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Session B Looks Like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737360"/>
            <a:ext cx="5212080" cy="3566160"/>
          </a:xfrm>
          <a:prstGeom prst="rect">
            <a:avLst/>
          </a:prstGeom>
          <a:solidFill>
            <a:srgbClr val="1F3864"/>
          </a:solidFill>
          <a:ln/>
        </p:spPr>
      </p:sp>
      <p:sp>
        <p:nvSpPr>
          <p:cNvPr id="4" name="Text 2"/>
          <p:cNvSpPr/>
          <p:nvPr/>
        </p:nvSpPr>
        <p:spPr>
          <a:xfrm>
            <a:off x="1005840" y="201168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Return Circles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05840" y="2788920"/>
            <a:ext cx="45720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what happened — wins and honest failures both. No-judgement norm, stated aloud.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17920" y="1737360"/>
            <a:ext cx="5212080" cy="356616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0" y="201168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Mint Workshop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583680" y="2788920"/>
            <a:ext cx="45720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Trials that worked become a one-page Practice Card, credited to you by name, added to the shared library.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6517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Bring one real problem.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3657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else this cycle builds from there.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2026-07-24T14:40:34Z</dcterms:created>
  <dcterms:modified xsi:type="dcterms:W3CDTF">2026-07-24T14:40:34Z</dcterms:modified>
</cp:coreProperties>
</file>